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5"/>
  </p:notesMasterIdLst>
  <p:sldIdLst>
    <p:sldId id="303" r:id="rId2"/>
    <p:sldId id="277" r:id="rId3"/>
    <p:sldId id="278" r:id="rId4"/>
    <p:sldId id="279" r:id="rId5"/>
    <p:sldId id="280" r:id="rId6"/>
    <p:sldId id="281" r:id="rId7"/>
    <p:sldId id="282" r:id="rId8"/>
    <p:sldId id="272" r:id="rId9"/>
    <p:sldId id="283" r:id="rId10"/>
    <p:sldId id="258" r:id="rId11"/>
    <p:sldId id="261" r:id="rId12"/>
    <p:sldId id="262" r:id="rId13"/>
    <p:sldId id="263" r:id="rId14"/>
    <p:sldId id="264" r:id="rId15"/>
    <p:sldId id="265" r:id="rId16"/>
    <p:sldId id="289" r:id="rId17"/>
    <p:sldId id="307" r:id="rId18"/>
    <p:sldId id="308" r:id="rId19"/>
    <p:sldId id="284" r:id="rId20"/>
    <p:sldId id="274" r:id="rId21"/>
    <p:sldId id="276" r:id="rId22"/>
    <p:sldId id="275" r:id="rId23"/>
    <p:sldId id="290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4EF94F-89EE-4B56-9C31-7EDEC2EC7B60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896996-988E-4D1B-86CA-B33D09C20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39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thank-you-polaroid-letters-2490552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C870A-F857-8583-9F79-FE204A5E0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9993620" cy="5538019"/>
          </a:xfrm>
          <a:gradFill>
            <a:gsLst>
              <a:gs pos="10000">
                <a:schemeClr val="bg2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bg2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solidFill>
              <a:schemeClr val="bg2">
                <a:lumMod val="75000"/>
              </a:schemeClr>
            </a:solidFill>
          </a:ln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endParaRPr lang="en-US" sz="4400" i="1" dirty="0">
              <a:latin typeface="Algerian" panose="04020705040A02060702" pitchFamily="82" charset="0"/>
            </a:endParaRPr>
          </a:p>
          <a:p>
            <a:pPr marL="0" indent="0" algn="ctr">
              <a:buNone/>
            </a:pPr>
            <a:endParaRPr lang="en-US" sz="4400" i="1" dirty="0">
              <a:latin typeface="Algerian" panose="04020705040A02060702" pitchFamily="82" charset="0"/>
            </a:endParaRPr>
          </a:p>
          <a:p>
            <a:pPr marL="0" indent="0" algn="ctr">
              <a:buNone/>
            </a:pPr>
            <a:endParaRPr lang="en-US" sz="4400" i="1" dirty="0">
              <a:latin typeface="Algerian" panose="04020705040A02060702" pitchFamily="82" charset="0"/>
            </a:endParaRPr>
          </a:p>
          <a:p>
            <a:pPr marL="0" indent="0" algn="ctr">
              <a:buNone/>
            </a:pPr>
            <a:r>
              <a:rPr lang="en-US" sz="4400" i="1" dirty="0">
                <a:latin typeface="Algerian" panose="04020705040A02060702" pitchFamily="82" charset="0"/>
              </a:rPr>
              <a:t>        </a:t>
            </a:r>
            <a:r>
              <a:rPr lang="en-US" sz="4400" b="1" i="1" dirty="0">
                <a:solidFill>
                  <a:schemeClr val="accent1"/>
                </a:solidFill>
                <a:latin typeface="Algerian" panose="04020705040A02060702" pitchFamily="82" charset="0"/>
              </a:rPr>
              <a:t>Banking Analytics</a:t>
            </a:r>
          </a:p>
          <a:p>
            <a:pPr marL="0" indent="0" algn="ctr">
              <a:buNone/>
            </a:pPr>
            <a:r>
              <a:rPr lang="en-US" sz="4400" i="1" dirty="0">
                <a:latin typeface="Algerian" panose="04020705040A02060702" pitchFamily="82" charset="0"/>
              </a:rPr>
              <a:t>                </a:t>
            </a:r>
          </a:p>
          <a:p>
            <a:pPr marL="0" indent="0" algn="ctr">
              <a:buNone/>
            </a:pPr>
            <a:endParaRPr lang="en-US" sz="4400" i="1" dirty="0">
              <a:latin typeface="Algerian" panose="04020705040A02060702" pitchFamily="82" charset="0"/>
            </a:endParaRPr>
          </a:p>
          <a:p>
            <a:pPr marL="0" indent="0" algn="ctr">
              <a:buNone/>
            </a:pPr>
            <a:r>
              <a:rPr lang="en-US" sz="4400" i="1" dirty="0">
                <a:latin typeface="Algerian" panose="04020705040A02060702" pitchFamily="82" charset="0"/>
              </a:rPr>
              <a:t>                    </a:t>
            </a:r>
            <a:r>
              <a:rPr lang="en-US" i="1" dirty="0">
                <a:solidFill>
                  <a:schemeClr val="accent1"/>
                </a:solidFill>
                <a:latin typeface="Algerian" panose="04020705040A02060702" pitchFamily="82" charset="0"/>
              </a:rPr>
              <a:t>Presented by  </a:t>
            </a:r>
            <a:r>
              <a:rPr lang="en-US" i="1">
                <a:solidFill>
                  <a:schemeClr val="accent1"/>
                </a:solidFill>
                <a:latin typeface="Algerian" panose="04020705040A02060702" pitchFamily="82" charset="0"/>
              </a:rPr>
              <a:t>yashik</a:t>
            </a:r>
            <a:endParaRPr lang="en-US" i="1" dirty="0">
              <a:solidFill>
                <a:schemeClr val="accent1"/>
              </a:solidFill>
              <a:latin typeface="Algerian" panose="04020705040A02060702" pitchFamily="82" charset="0"/>
            </a:endParaRPr>
          </a:p>
          <a:p>
            <a:pPr marL="0" indent="0" algn="ctr">
              <a:buNone/>
            </a:pPr>
            <a:r>
              <a:rPr lang="en-US" i="1" dirty="0">
                <a:latin typeface="Algerian" panose="04020705040A02060702" pitchFamily="82" charset="0"/>
              </a:rPr>
              <a:t>                       </a:t>
            </a:r>
            <a:endParaRPr lang="en-IN" i="1" dirty="0">
              <a:solidFill>
                <a:schemeClr val="accent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067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8246F-E544-B572-63AC-F5D23B9D6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8052C42-3A27-FD7D-655F-44EF033780FF}"/>
              </a:ext>
            </a:extLst>
          </p:cNvPr>
          <p:cNvSpPr txBox="1">
            <a:spLocks/>
          </p:cNvSpPr>
          <p:nvPr/>
        </p:nvSpPr>
        <p:spPr>
          <a:xfrm>
            <a:off x="252919" y="312738"/>
            <a:ext cx="11572288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b="1" dirty="0">
                <a:solidFill>
                  <a:srgbClr val="002060"/>
                </a:solidFill>
              </a:rPr>
              <a:t>Bank Loan Analysis </a:t>
            </a:r>
            <a:br>
              <a:rPr lang="en-IN" b="1" dirty="0">
                <a:solidFill>
                  <a:srgbClr val="002060"/>
                </a:solidFill>
              </a:rPr>
            </a:br>
            <a:r>
              <a:rPr lang="en-IN" b="1" dirty="0">
                <a:solidFill>
                  <a:srgbClr val="002060"/>
                </a:solidFill>
              </a:rPr>
              <a:t>RePORT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E081AB3-9636-7B68-1B72-BBCF5A1AAE6B}"/>
              </a:ext>
            </a:extLst>
          </p:cNvPr>
          <p:cNvSpPr txBox="1">
            <a:spLocks/>
          </p:cNvSpPr>
          <p:nvPr/>
        </p:nvSpPr>
        <p:spPr>
          <a:xfrm>
            <a:off x="252919" y="1939925"/>
            <a:ext cx="6554788" cy="3768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</a:rPr>
              <a:t>Tool Used: </a:t>
            </a:r>
            <a:r>
              <a:rPr lang="en-US" dirty="0">
                <a:solidFill>
                  <a:srgbClr val="002060"/>
                </a:solidFill>
              </a:rPr>
              <a:t>Tableau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</a:rPr>
              <a:t>Dataset: </a:t>
            </a:r>
            <a:r>
              <a:rPr lang="en-US" dirty="0">
                <a:solidFill>
                  <a:srgbClr val="002060"/>
                </a:solidFill>
              </a:rPr>
              <a:t>Bank Loan Analytics</a:t>
            </a:r>
          </a:p>
          <a:p>
            <a:endParaRPr lang="en-US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</a:rPr>
              <a:t>    Objective: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To analyze loan performance, revenue, and risk indicators using KPIs.</a:t>
            </a:r>
          </a:p>
        </p:txBody>
      </p:sp>
    </p:spTree>
    <p:extLst>
      <p:ext uri="{BB962C8B-B14F-4D97-AF65-F5344CB8AC3E}">
        <p14:creationId xmlns:p14="http://schemas.microsoft.com/office/powerpoint/2010/main" val="3102188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91842-2D4B-0A70-6123-0B3797114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80D3B3-482D-777D-8722-DA17F12EFA66}"/>
              </a:ext>
            </a:extLst>
          </p:cNvPr>
          <p:cNvSpPr txBox="1"/>
          <p:nvPr/>
        </p:nvSpPr>
        <p:spPr>
          <a:xfrm>
            <a:off x="449452" y="151770"/>
            <a:ext cx="10848812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b="1" cap="all" dirty="0">
              <a:ln w="3175" cmpd="sng">
                <a:noFill/>
              </a:ln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endParaRPr lang="en-US" sz="2400" b="1" cap="all" dirty="0">
              <a:ln w="3175" cmpd="sng">
                <a:noFill/>
              </a:ln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r>
              <a:rPr lang="en-US" sz="2400" b="1" cap="all" dirty="0">
                <a:ln w="3175" cmpd="sng">
                  <a:noFill/>
                </a:ln>
                <a:solidFill>
                  <a:srgbClr val="002060"/>
                </a:solidFill>
                <a:latin typeface="+mj-lt"/>
                <a:ea typeface="+mj-ea"/>
                <a:cs typeface="+mj-cs"/>
              </a:rPr>
              <a:t>Introduction</a:t>
            </a:r>
          </a:p>
          <a:p>
            <a:endParaRPr lang="en-US" b="1" cap="all" dirty="0">
              <a:ln w="3175" cmpd="sng">
                <a:noFill/>
              </a:ln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r>
              <a:rPr lang="en-US" b="1" cap="all" dirty="0">
                <a:ln w="3175" cmpd="sng">
                  <a:noFill/>
                </a:ln>
                <a:solidFill>
                  <a:srgbClr val="002060"/>
                </a:solidFill>
                <a:latin typeface="+mj-lt"/>
                <a:ea typeface="+mj-ea"/>
                <a:cs typeface="+mj-cs"/>
              </a:rPr>
              <a:t>About the Project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</a:rPr>
              <a:t>This project focuses on analyzing business/operational data to generate meaningful insights.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</a:rPr>
              <a:t>The objective is to transform raw data into clear, actionable information for decision-making.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</a:rPr>
              <a:t>A centralized dashboard/report has been developed to monitor performance and trends.</a:t>
            </a:r>
          </a:p>
          <a:p>
            <a:endParaRPr lang="en-US" sz="1800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r>
              <a:rPr lang="en-US" sz="2000" b="1" cap="all" dirty="0">
                <a:ln w="3175" cmpd="sng">
                  <a:noFill/>
                </a:ln>
                <a:solidFill>
                  <a:srgbClr val="002060"/>
                </a:solidFill>
                <a:latin typeface="+mj-lt"/>
                <a:ea typeface="+mj-ea"/>
                <a:cs typeface="+mj-cs"/>
              </a:rPr>
              <a:t>Purpose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</a:rPr>
              <a:t>Understand overall performance and growth patterns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</a:rPr>
              <a:t>Identify strengths, risks, and improvement opportunities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</a:rPr>
              <a:t>Support management with data-driven decisions</a:t>
            </a:r>
          </a:p>
          <a:p>
            <a:endParaRPr lang="en-US" sz="1800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endParaRPr lang="en-US" sz="1800" dirty="0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63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E6504-84F5-8E2D-36D9-806E609EB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9E95806-DE61-7819-F466-D579204A6F36}"/>
              </a:ext>
            </a:extLst>
          </p:cNvPr>
          <p:cNvSpPr txBox="1"/>
          <p:nvPr/>
        </p:nvSpPr>
        <p:spPr>
          <a:xfrm>
            <a:off x="402955" y="506948"/>
            <a:ext cx="9546957" cy="352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cs typeface="Calibri" panose="020F0502020204030204" pitchFamily="34" charset="0"/>
              </a:rPr>
              <a:t>Scope</a:t>
            </a:r>
            <a:endParaRPr lang="en-US" sz="1800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</a:rPr>
              <a:t>Data collection and validation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</a:rPr>
              <a:t>Data visualization and analysis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</a:rPr>
              <a:t>Performance monitoring across key metrics</a:t>
            </a:r>
          </a:p>
          <a:p>
            <a:endParaRPr lang="en-US" sz="1800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r>
              <a:rPr lang="en-US" sz="1800" b="1" dirty="0">
                <a:solidFill>
                  <a:schemeClr val="bg1"/>
                </a:solidFill>
                <a:cs typeface="Calibri" panose="020F0502020204030204" pitchFamily="34" charset="0"/>
              </a:rPr>
              <a:t>Tools &amp; Technology</a:t>
            </a:r>
            <a:endParaRPr lang="en-US" sz="1800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</a:rPr>
              <a:t>Data Processing &amp; Validation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</a:rPr>
              <a:t>Visualization Dashboard (Tableau/ Reporting Tool)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</a:rPr>
              <a:t>Structured database sources</a:t>
            </a:r>
          </a:p>
        </p:txBody>
      </p:sp>
    </p:spTree>
    <p:extLst>
      <p:ext uri="{BB962C8B-B14F-4D97-AF65-F5344CB8AC3E}">
        <p14:creationId xmlns:p14="http://schemas.microsoft.com/office/powerpoint/2010/main" val="2515921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95629-EF38-B4F9-9E54-B73DD1213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871601D-5C6C-7B9A-BAB5-CED70B862D76}"/>
              </a:ext>
            </a:extLst>
          </p:cNvPr>
          <p:cNvSpPr txBox="1">
            <a:spLocks/>
          </p:cNvSpPr>
          <p:nvPr/>
        </p:nvSpPr>
        <p:spPr>
          <a:xfrm>
            <a:off x="330740" y="197189"/>
            <a:ext cx="11339484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rgbClr val="002060"/>
                </a:solidFill>
              </a:rPr>
              <a:t>Data Overview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D04EA96-D5A9-4E5A-BD2F-F7A8E9152C54}"/>
              </a:ext>
            </a:extLst>
          </p:cNvPr>
          <p:cNvSpPr txBox="1">
            <a:spLocks/>
          </p:cNvSpPr>
          <p:nvPr/>
        </p:nvSpPr>
        <p:spPr>
          <a:xfrm>
            <a:off x="175757" y="1515390"/>
            <a:ext cx="11230996" cy="38272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</a:rPr>
              <a:t>Total Rows Used: </a:t>
            </a:r>
            <a:r>
              <a:rPr lang="en-US" dirty="0">
                <a:solidFill>
                  <a:srgbClr val="002060"/>
                </a:solidFill>
              </a:rPr>
              <a:t>66,000 (approx.)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</a:rPr>
              <a:t>Total Columns Used: </a:t>
            </a:r>
            <a:r>
              <a:rPr lang="en-US" dirty="0">
                <a:solidFill>
                  <a:srgbClr val="002060"/>
                </a:solidFill>
              </a:rPr>
              <a:t>15+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</a:rPr>
              <a:t>    Important Columns: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Loan ID, Funded Amount, Total Interest, Collection, State,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Branch, Religion, Grade, Age, Product Group,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Loan Status, Default Flag, Delinquent Flag, Verification Status</a:t>
            </a:r>
          </a:p>
        </p:txBody>
      </p:sp>
    </p:spTree>
    <p:extLst>
      <p:ext uri="{BB962C8B-B14F-4D97-AF65-F5344CB8AC3E}">
        <p14:creationId xmlns:p14="http://schemas.microsoft.com/office/powerpoint/2010/main" val="2497692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6204D-E955-A944-7F53-1967CAF22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BAFA4-1204-BAC4-A50D-7F0D5881ADE0}"/>
              </a:ext>
            </a:extLst>
          </p:cNvPr>
          <p:cNvSpPr txBox="1">
            <a:spLocks/>
          </p:cNvSpPr>
          <p:nvPr/>
        </p:nvSpPr>
        <p:spPr>
          <a:xfrm>
            <a:off x="533400" y="189866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b="1" dirty="0">
                <a:solidFill>
                  <a:srgbClr val="002060"/>
                </a:solidFill>
              </a:rPr>
              <a:t>Objectives - KPIs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8E6A6-9171-1C81-5D26-AEFF7BB29976}"/>
              </a:ext>
            </a:extLst>
          </p:cNvPr>
          <p:cNvSpPr txBox="1">
            <a:spLocks/>
          </p:cNvSpPr>
          <p:nvPr/>
        </p:nvSpPr>
        <p:spPr>
          <a:xfrm>
            <a:off x="533399" y="194391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1. Total Funded Amount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2. Total Loans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3. Total Collection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4. Total Interest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5. Default Loan Rate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6. Delinquent Loan Rate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7. Default Loan Count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8. Delinquent Client Count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9. Non Verified Loan %</a:t>
            </a:r>
          </a:p>
        </p:txBody>
      </p:sp>
    </p:spTree>
    <p:extLst>
      <p:ext uri="{BB962C8B-B14F-4D97-AF65-F5344CB8AC3E}">
        <p14:creationId xmlns:p14="http://schemas.microsoft.com/office/powerpoint/2010/main" val="989404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CC198-733C-E734-BEDE-238A2EF1C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BA89FEE-8D27-D1EB-F7C8-4AAFD0A98062}"/>
              </a:ext>
            </a:extLst>
          </p:cNvPr>
          <p:cNvSpPr txBox="1">
            <a:spLocks/>
          </p:cNvSpPr>
          <p:nvPr/>
        </p:nvSpPr>
        <p:spPr>
          <a:xfrm>
            <a:off x="620949" y="110247"/>
            <a:ext cx="10305356" cy="1021129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b="1" dirty="0">
                <a:solidFill>
                  <a:srgbClr val="002060"/>
                </a:solidFill>
              </a:rPr>
              <a:t>Process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94833A-3356-D481-0E17-422ECBD80FFA}"/>
              </a:ext>
            </a:extLst>
          </p:cNvPr>
          <p:cNvSpPr txBox="1">
            <a:spLocks/>
          </p:cNvSpPr>
          <p:nvPr/>
        </p:nvSpPr>
        <p:spPr>
          <a:xfrm>
            <a:off x="620949" y="1553360"/>
            <a:ext cx="8957004" cy="37676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</a:rPr>
              <a:t>Step 1: </a:t>
            </a:r>
            <a:r>
              <a:rPr lang="en-US" dirty="0">
                <a:solidFill>
                  <a:srgbClr val="002060"/>
                </a:solidFill>
              </a:rPr>
              <a:t>Data Cleaning (Null check, format correction)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</a:rPr>
              <a:t>Step 2: </a:t>
            </a:r>
            <a:r>
              <a:rPr lang="en-US" dirty="0">
                <a:solidFill>
                  <a:srgbClr val="002060"/>
                </a:solidFill>
              </a:rPr>
              <a:t>Created Calculated Fields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</a:rPr>
              <a:t>Step 3: </a:t>
            </a:r>
            <a:r>
              <a:rPr lang="en-US" dirty="0">
                <a:solidFill>
                  <a:srgbClr val="002060"/>
                </a:solidFill>
              </a:rPr>
              <a:t>Built Charts (State, Grade, Religion, Age, Product)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</a:rPr>
              <a:t>Step 4: </a:t>
            </a:r>
            <a:r>
              <a:rPr lang="en-US" dirty="0">
                <a:solidFill>
                  <a:srgbClr val="002060"/>
                </a:solidFill>
              </a:rPr>
              <a:t>Dashboard Design and KPI Cards</a:t>
            </a:r>
          </a:p>
        </p:txBody>
      </p:sp>
    </p:spTree>
    <p:extLst>
      <p:ext uri="{BB962C8B-B14F-4D97-AF65-F5344CB8AC3E}">
        <p14:creationId xmlns:p14="http://schemas.microsoft.com/office/powerpoint/2010/main" val="860357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33E24-CDC5-6F1C-ECA8-7B99ADC40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C4AE0-B2C7-E542-6E4A-5874984C3A8F}"/>
              </a:ext>
            </a:extLst>
          </p:cNvPr>
          <p:cNvSpPr txBox="1">
            <a:spLocks/>
          </p:cNvSpPr>
          <p:nvPr/>
        </p:nvSpPr>
        <p:spPr>
          <a:xfrm>
            <a:off x="796045" y="418289"/>
            <a:ext cx="10889677" cy="992057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b="1" dirty="0">
                <a:solidFill>
                  <a:srgbClr val="002060"/>
                </a:solidFill>
              </a:rPr>
              <a:t>KPI Calculation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ACF1F-EE64-7FD5-7D89-3586C4BD9ABA}"/>
              </a:ext>
            </a:extLst>
          </p:cNvPr>
          <p:cNvSpPr txBox="1">
            <a:spLocks/>
          </p:cNvSpPr>
          <p:nvPr/>
        </p:nvSpPr>
        <p:spPr>
          <a:xfrm>
            <a:off x="796046" y="2036678"/>
            <a:ext cx="9386340" cy="37676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Total Funded Amount = SUM(Funded Amount)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Total Collection = SUM(Collection)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Total Interest = SUM(Total Interest)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Total Loans = COUNT(Loan ID)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Default Rate = Default Count / Total Loans * 100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Delinquent Rate = Delinquent Count / Total Loans * 100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Non Verified % = Not Verified Count / Total Loans * 100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Profit Insight = Total Collection - Funded Amount</a:t>
            </a:r>
          </a:p>
        </p:txBody>
      </p:sp>
    </p:spTree>
    <p:extLst>
      <p:ext uri="{BB962C8B-B14F-4D97-AF65-F5344CB8AC3E}">
        <p14:creationId xmlns:p14="http://schemas.microsoft.com/office/powerpoint/2010/main" val="341585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A19E3-0171-C78E-B39E-4A8F8A709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2E8DB-EB15-68DE-0085-D2258085C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1002890"/>
          </a:xfr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>
              <a:buNone/>
            </a:pPr>
            <a:endParaRPr lang="en-US" b="1" dirty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b="1" dirty="0">
                <a:latin typeface="Arial Black" panose="020B0A04020102020204" pitchFamily="34" charset="0"/>
                <a:cs typeface="Arial" panose="020B0604020202020204" pitchFamily="34" charset="0"/>
              </a:rPr>
              <a:t>State Wise Loans</a:t>
            </a:r>
            <a:endParaRPr lang="en-IN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9782C8-AD0C-E3F0-0AE2-3EFABABC7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80" y="2182761"/>
            <a:ext cx="5574890" cy="4430240"/>
          </a:xfrm>
          <a:prstGeom prst="rect">
            <a:avLst/>
          </a:prstGeom>
          <a:effectLst>
            <a:glow rad="279400">
              <a:schemeClr val="accent1">
                <a:satMod val="175000"/>
                <a:alpha val="40000"/>
              </a:schemeClr>
            </a:glow>
            <a:outerShdw blurRad="50800" dist="38100" dir="5400000" algn="t" rotWithShape="0">
              <a:schemeClr val="bg2">
                <a:lumMod val="60000"/>
                <a:lumOff val="40000"/>
                <a:alpha val="40000"/>
              </a:schemeClr>
            </a:outerShdw>
            <a:reflection stA="99000" endPos="0" dist="50800" dir="5400000" sy="-100000" algn="bl" rotWithShape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6F5074-08F8-AF22-E5B4-4ECE9AB6763A}"/>
              </a:ext>
            </a:extLst>
          </p:cNvPr>
          <p:cNvSpPr txBox="1"/>
          <p:nvPr/>
        </p:nvSpPr>
        <p:spPr>
          <a:xfrm>
            <a:off x="6331973" y="1170038"/>
            <a:ext cx="5490447" cy="3416320"/>
          </a:xfrm>
          <a:prstGeom prst="rect">
            <a:avLst/>
          </a:prstGeom>
          <a:noFill/>
          <a:ln w="31750"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Insights: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Uttar Pradesh and </a:t>
            </a:r>
            <a:r>
              <a:rPr lang="en-IN" dirty="0">
                <a:solidFill>
                  <a:schemeClr val="bg1"/>
                </a:solidFill>
              </a:rPr>
              <a:t>Punjab dominates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</a:rPr>
              <a:t>Bihar, Haryana and Rajasthan and Mid  range clusters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</a:rPr>
              <a:t>Odisha ,Assam, West Bengal contribute moderately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</a:rPr>
              <a:t>Jammu &amp; Kashmir, Uttarakhand and Himachal Pradesh are at bottom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Overall distribution skewed to specific states, showing imbalance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1350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BEC4D1-E21C-EF8E-55D2-CE8CFF7AA5FB}"/>
              </a:ext>
            </a:extLst>
          </p:cNvPr>
          <p:cNvSpPr txBox="1">
            <a:spLocks/>
          </p:cNvSpPr>
          <p:nvPr/>
        </p:nvSpPr>
        <p:spPr>
          <a:xfrm>
            <a:off x="9832" y="1"/>
            <a:ext cx="12192000" cy="1002889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indent="0" algn="ctr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000" b="1" cap="none">
                <a:solidFill>
                  <a:schemeClr val="bg2">
                    <a:lumMod val="75000"/>
                  </a:schemeClr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cap="none">
                <a:solidFill>
                  <a:schemeClr val="bg2">
                    <a:lumMod val="75000"/>
                  </a:schemeClr>
                </a:solidFill>
                <a:effectLst/>
              </a:defRPr>
            </a:lvl2pPr>
            <a:lvl3pPr marL="12001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cap="none">
                <a:solidFill>
                  <a:schemeClr val="bg2">
                    <a:lumMod val="75000"/>
                  </a:schemeClr>
                </a:solidFill>
                <a:effectLst/>
              </a:defRPr>
            </a:lvl3pPr>
            <a:lvl4pPr marL="1543050" indent="-1714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4pPr>
            <a:lvl5pPr marL="2000250" indent="-1714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5pPr>
            <a:lvl6pPr marL="25146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6pPr>
            <a:lvl7pPr marL="29718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7pPr>
            <a:lvl8pPr marL="3429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8pPr>
            <a:lvl9pPr marL="3886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9pPr>
          </a:lstStyle>
          <a:p>
            <a:r>
              <a:rPr lang="en-US" dirty="0"/>
              <a:t>Religion Wise Loans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CFC6FB-41C4-9612-143B-CE77D0362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665" y="2495903"/>
            <a:ext cx="4686954" cy="3734321"/>
          </a:xfrm>
          <a:prstGeom prst="rect">
            <a:avLst/>
          </a:prstGeom>
          <a:ln w="53975">
            <a:solidFill>
              <a:schemeClr val="bg2">
                <a:lumMod val="75000"/>
              </a:schemeClr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413FCAB-1155-ECB1-D506-746702FB1619}"/>
              </a:ext>
            </a:extLst>
          </p:cNvPr>
          <p:cNvSpPr txBox="1"/>
          <p:nvPr/>
        </p:nvSpPr>
        <p:spPr>
          <a:xfrm>
            <a:off x="6292646" y="1769808"/>
            <a:ext cx="4365524" cy="3139321"/>
          </a:xfrm>
          <a:prstGeom prst="rect">
            <a:avLst/>
          </a:prstGeom>
          <a:noFill/>
          <a:ln w="31750"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Insights: 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Loan uptake is dominated by Hindus, with Sikhs and Muslims as significant contributors,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while Christians remain marginal.</a:t>
            </a: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r>
              <a:rPr lang="en-US" dirty="0">
                <a:solidFill>
                  <a:schemeClr val="bg1"/>
                </a:solidFill>
              </a:rPr>
              <a:t>This distribution may reflect both population proportions and access to financial services.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5815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6E54E1DC-1F52-60A3-70A1-019A6CA6F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02513F0-46B2-5F25-AD2C-878CFA3F1A2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4725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indent="0" algn="ctr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000" b="1" cap="none">
                <a:solidFill>
                  <a:schemeClr val="bg2">
                    <a:lumMod val="75000"/>
                  </a:schemeClr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cap="none">
                <a:solidFill>
                  <a:schemeClr val="bg2">
                    <a:lumMod val="75000"/>
                  </a:schemeClr>
                </a:solidFill>
                <a:effectLst/>
              </a:defRPr>
            </a:lvl2pPr>
            <a:lvl3pPr marL="12001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cap="none">
                <a:solidFill>
                  <a:schemeClr val="bg2">
                    <a:lumMod val="75000"/>
                  </a:schemeClr>
                </a:solidFill>
                <a:effectLst/>
              </a:defRPr>
            </a:lvl3pPr>
            <a:lvl4pPr marL="1543050" indent="-1714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4pPr>
            <a:lvl5pPr marL="2000250" indent="-1714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5pPr>
            <a:lvl6pPr marL="25146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6pPr>
            <a:lvl7pPr marL="29718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7pPr>
            <a:lvl8pPr marL="3429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8pPr>
            <a:lvl9pPr marL="3886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9pPr>
          </a:lstStyle>
          <a:p>
            <a:r>
              <a:rPr lang="en-US" dirty="0"/>
              <a:t>Product -Group Wise Loans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F7085C-2856-6E32-9AF2-7671695AB196}"/>
              </a:ext>
            </a:extLst>
          </p:cNvPr>
          <p:cNvSpPr txBox="1"/>
          <p:nvPr/>
        </p:nvSpPr>
        <p:spPr>
          <a:xfrm>
            <a:off x="240322" y="747253"/>
            <a:ext cx="8903677" cy="2031325"/>
          </a:xfrm>
          <a:prstGeom prst="rect">
            <a:avLst/>
          </a:prstGeom>
          <a:noFill/>
          <a:ln w="31750"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Insights: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 Loan demand is concentrated in housing, services, and business,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 while consumer goods and niche categories remain marginal.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This reflects a mix of basic needs, livelihood support, and selective consumer spending.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7A8351-EF8D-AEB9-E20C-58336F4E1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22" y="3052183"/>
            <a:ext cx="8903678" cy="3498081"/>
          </a:xfrm>
          <a:prstGeom prst="rect">
            <a:avLst/>
          </a:prstGeom>
          <a:ln w="53975"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523360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8B24051C-6931-0E57-7ACE-670588F96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FB157FC-1C24-EDAB-51C1-580EEEFEF87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0624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indent="0" algn="ctr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000" b="1" cap="none">
                <a:solidFill>
                  <a:schemeClr val="bg2">
                    <a:lumMod val="75000"/>
                  </a:schemeClr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cap="none">
                <a:solidFill>
                  <a:schemeClr val="bg2">
                    <a:lumMod val="75000"/>
                  </a:schemeClr>
                </a:solidFill>
                <a:effectLst/>
              </a:defRPr>
            </a:lvl2pPr>
            <a:lvl3pPr marL="12001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cap="none">
                <a:solidFill>
                  <a:schemeClr val="bg2">
                    <a:lumMod val="75000"/>
                  </a:schemeClr>
                </a:solidFill>
                <a:effectLst/>
              </a:defRPr>
            </a:lvl3pPr>
            <a:lvl4pPr marL="1543050" indent="-1714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4pPr>
            <a:lvl5pPr marL="2000250" indent="-1714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5pPr>
            <a:lvl6pPr marL="25146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6pPr>
            <a:lvl7pPr marL="29718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7pPr>
            <a:lvl8pPr marL="3429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8pPr>
            <a:lvl9pPr marL="3886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9pPr>
          </a:lstStyle>
          <a:p>
            <a:r>
              <a:rPr lang="en-US" dirty="0"/>
              <a:t>Disbursement Trend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A60EC8-EC92-E9F1-C1A0-404C10D84D9B}"/>
              </a:ext>
            </a:extLst>
          </p:cNvPr>
          <p:cNvSpPr txBox="1"/>
          <p:nvPr/>
        </p:nvSpPr>
        <p:spPr>
          <a:xfrm>
            <a:off x="487568" y="1022555"/>
            <a:ext cx="8927690" cy="2031325"/>
          </a:xfrm>
          <a:prstGeom prst="rect">
            <a:avLst/>
          </a:prstGeom>
          <a:noFill/>
          <a:ln w="31750"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+mj-lt"/>
              </a:rPr>
              <a:t>Insights: </a:t>
            </a:r>
          </a:p>
          <a:p>
            <a:endParaRPr lang="en-US" b="1" dirty="0">
              <a:solidFill>
                <a:schemeClr val="bg1"/>
              </a:solidFill>
              <a:latin typeface="+mj-lt"/>
            </a:endParaRPr>
          </a:p>
          <a:p>
            <a:r>
              <a:rPr lang="en-US" dirty="0">
                <a:solidFill>
                  <a:schemeClr val="bg1"/>
                </a:solidFill>
                <a:latin typeface="+mj-lt"/>
              </a:rPr>
              <a:t>The disbursement trend shows three phases: rapid growth leading to a one‑time peak, followed by a steady decline and eventual near‑zero activity. This indicates the process was event‑driven rather than sustainable, highlighting the need for strategies that maintain consistency beyond peak periods.</a:t>
            </a:r>
            <a:endParaRPr lang="en-IN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CE7F29-EA21-2168-1A4C-E6BAD8051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567" y="3824188"/>
            <a:ext cx="8927690" cy="2694950"/>
          </a:xfrm>
          <a:prstGeom prst="rect">
            <a:avLst/>
          </a:prstGeom>
          <a:ln w="53975"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009304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DAA2A4B4-767A-835E-9FA6-3C2C71FAD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A77CF00-B151-8575-C4BF-CD95F83BC071}"/>
              </a:ext>
            </a:extLst>
          </p:cNvPr>
          <p:cNvSpPr txBox="1">
            <a:spLocks/>
          </p:cNvSpPr>
          <p:nvPr/>
        </p:nvSpPr>
        <p:spPr>
          <a:xfrm>
            <a:off x="684212" y="78657"/>
            <a:ext cx="8534400" cy="61943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indent="0" algn="ctr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000" b="1" cap="none">
                <a:solidFill>
                  <a:schemeClr val="bg2">
                    <a:lumMod val="75000"/>
                  </a:schemeClr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cap="none">
                <a:solidFill>
                  <a:schemeClr val="bg2">
                    <a:lumMod val="75000"/>
                  </a:schemeClr>
                </a:solidFill>
                <a:effectLst/>
              </a:defRPr>
            </a:lvl2pPr>
            <a:lvl3pPr marL="12001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cap="none">
                <a:solidFill>
                  <a:schemeClr val="bg2">
                    <a:lumMod val="75000"/>
                  </a:schemeClr>
                </a:solidFill>
                <a:effectLst/>
              </a:defRPr>
            </a:lvl3pPr>
            <a:lvl4pPr marL="1543050" indent="-1714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4pPr>
            <a:lvl5pPr marL="2000250" indent="-1714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5pPr>
            <a:lvl6pPr marL="25146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6pPr>
            <a:lvl7pPr marL="29718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7pPr>
            <a:lvl8pPr marL="3429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8pPr>
            <a:lvl9pPr marL="3886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9pPr>
          </a:lstStyle>
          <a:p>
            <a:r>
              <a:rPr lang="en-US" dirty="0"/>
              <a:t>KPI -10</a:t>
            </a:r>
          </a:p>
          <a:p>
            <a:r>
              <a:rPr lang="en-US" dirty="0"/>
              <a:t>Grade wise Loans 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211C8F-0B26-3852-3CE3-260C0A2951CC}"/>
              </a:ext>
            </a:extLst>
          </p:cNvPr>
          <p:cNvSpPr txBox="1"/>
          <p:nvPr/>
        </p:nvSpPr>
        <p:spPr>
          <a:xfrm>
            <a:off x="206479" y="4611103"/>
            <a:ext cx="11371574" cy="1477328"/>
          </a:xfrm>
          <a:prstGeom prst="rect">
            <a:avLst/>
          </a:prstGeom>
          <a:noFill/>
          <a:ln w="31750"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+mj-lt"/>
              </a:rPr>
              <a:t>Insights: </a:t>
            </a:r>
          </a:p>
          <a:p>
            <a:endParaRPr lang="en-US" b="1" dirty="0">
              <a:solidFill>
                <a:schemeClr val="bg1"/>
              </a:solidFill>
              <a:latin typeface="+mj-lt"/>
            </a:endParaRPr>
          </a:p>
          <a:p>
            <a:r>
              <a:rPr lang="en-US" dirty="0">
                <a:solidFill>
                  <a:schemeClr val="bg1"/>
                </a:solidFill>
              </a:rPr>
              <a:t>Category B dominates with nearly 30% of total loans, while A and C together contribute another 40%. The rest are much smaller, with G at just 1.4%, showing a highly skewed distribution where lending is concentrated in a few categories.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35674A-EC33-3BF4-8968-D609059E7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79" y="954288"/>
            <a:ext cx="9320980" cy="3400616"/>
          </a:xfrm>
          <a:prstGeom prst="rect">
            <a:avLst/>
          </a:prstGeom>
          <a:ln w="53975"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210121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25D32509-BC6F-36B8-BFFA-C19B0F470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18BE649-16A5-DB80-86FF-DD86BF7D0AC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93406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indent="0" algn="ctr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000" b="1" cap="none">
                <a:solidFill>
                  <a:schemeClr val="bg2">
                    <a:lumMod val="75000"/>
                  </a:schemeClr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cap="none">
                <a:solidFill>
                  <a:schemeClr val="bg2">
                    <a:lumMod val="75000"/>
                  </a:schemeClr>
                </a:solidFill>
                <a:effectLst/>
              </a:defRPr>
            </a:lvl2pPr>
            <a:lvl3pPr marL="12001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cap="none">
                <a:solidFill>
                  <a:schemeClr val="bg2">
                    <a:lumMod val="75000"/>
                  </a:schemeClr>
                </a:solidFill>
                <a:effectLst/>
              </a:defRPr>
            </a:lvl3pPr>
            <a:lvl4pPr marL="1543050" indent="-1714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4pPr>
            <a:lvl5pPr marL="2000250" indent="-1714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5pPr>
            <a:lvl6pPr marL="25146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6pPr>
            <a:lvl7pPr marL="29718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7pPr>
            <a:lvl8pPr marL="3429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8pPr>
            <a:lvl9pPr marL="3886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9pPr>
          </a:lstStyle>
          <a:p>
            <a:r>
              <a:rPr lang="en-US" dirty="0"/>
              <a:t>KPI -15 </a:t>
            </a:r>
          </a:p>
          <a:p>
            <a:r>
              <a:rPr lang="en-US" dirty="0"/>
              <a:t>Loan Status wise Loans 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415EAE-C0B7-81B6-7424-EB87D54F7526}"/>
              </a:ext>
            </a:extLst>
          </p:cNvPr>
          <p:cNvSpPr txBox="1"/>
          <p:nvPr/>
        </p:nvSpPr>
        <p:spPr>
          <a:xfrm>
            <a:off x="5631051" y="1344600"/>
            <a:ext cx="6246352" cy="2031325"/>
          </a:xfrm>
          <a:prstGeom prst="rect">
            <a:avLst/>
          </a:prstGeom>
          <a:noFill/>
          <a:ln w="31750"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+mj-lt"/>
              </a:rPr>
              <a:t>Insights: </a:t>
            </a:r>
          </a:p>
          <a:p>
            <a:endParaRPr lang="en-US" b="1" dirty="0">
              <a:solidFill>
                <a:schemeClr val="bg1"/>
              </a:solidFill>
              <a:latin typeface="+mj-lt"/>
            </a:endParaRPr>
          </a:p>
          <a:p>
            <a:r>
              <a:rPr lang="en-US" dirty="0">
                <a:solidFill>
                  <a:schemeClr val="bg1"/>
                </a:solidFill>
              </a:rPr>
              <a:t>Over half of loans remain active (55%), while about a quarter are fully paid. The rest—transferred, insured, or cancelled—make up less than 6%, showing a portfolio that is largely ongoing with relatively low closure or risk events.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2D6885-C2EE-FF24-F807-AB69B8244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97" y="1138134"/>
            <a:ext cx="4896533" cy="3677163"/>
          </a:xfrm>
          <a:prstGeom prst="rect">
            <a:avLst/>
          </a:prstGeom>
          <a:ln w="53975"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204871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A53C90E1-5258-7137-C5BD-459B52B4D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A53546A-2594-A721-DD61-ADA83E827CD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92423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indent="0" algn="ctr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000" b="1" cap="none">
                <a:solidFill>
                  <a:schemeClr val="bg2">
                    <a:lumMod val="75000"/>
                  </a:schemeClr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cap="none">
                <a:solidFill>
                  <a:schemeClr val="bg2">
                    <a:lumMod val="75000"/>
                  </a:schemeClr>
                </a:solidFill>
                <a:effectLst/>
              </a:defRPr>
            </a:lvl2pPr>
            <a:lvl3pPr marL="12001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cap="none">
                <a:solidFill>
                  <a:schemeClr val="bg2">
                    <a:lumMod val="75000"/>
                  </a:schemeClr>
                </a:solidFill>
                <a:effectLst/>
              </a:defRPr>
            </a:lvl3pPr>
            <a:lvl4pPr marL="1543050" indent="-1714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4pPr>
            <a:lvl5pPr marL="2000250" indent="-1714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5pPr>
            <a:lvl6pPr marL="25146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6pPr>
            <a:lvl7pPr marL="29718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7pPr>
            <a:lvl8pPr marL="3429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8pPr>
            <a:lvl9pPr marL="3886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9pPr>
          </a:lstStyle>
          <a:p>
            <a:r>
              <a:rPr lang="en-US" dirty="0"/>
              <a:t>Age Group wise Loans 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E89B74-592C-E049-3D23-5C18F5E26475}"/>
              </a:ext>
            </a:extLst>
          </p:cNvPr>
          <p:cNvSpPr txBox="1"/>
          <p:nvPr/>
        </p:nvSpPr>
        <p:spPr>
          <a:xfrm>
            <a:off x="5672380" y="1282175"/>
            <a:ext cx="4484343" cy="2862322"/>
          </a:xfrm>
          <a:prstGeom prst="rect">
            <a:avLst/>
          </a:prstGeom>
          <a:noFill/>
          <a:ln w="31750"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+mj-lt"/>
              </a:rPr>
              <a:t>Insights: </a:t>
            </a:r>
          </a:p>
          <a:p>
            <a:endParaRPr lang="en-US" b="1" dirty="0">
              <a:solidFill>
                <a:schemeClr val="bg1"/>
              </a:solidFill>
              <a:latin typeface="+mj-lt"/>
            </a:endParaRPr>
          </a:p>
          <a:p>
            <a:r>
              <a:rPr lang="en-US" dirty="0">
                <a:solidFill>
                  <a:schemeClr val="bg1"/>
                </a:solidFill>
                <a:latin typeface="+mj-lt"/>
              </a:rPr>
              <a:t>The dataset is dominated by younger working‑age groups, with 26–35 (35%) and 36–45 (32%) together making up over two‑thirds of the population. Older groups above 55 are minimal, showing a strong concentration in the prime earning and borrowing age range.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8BAC63-0A85-C1D5-B0AF-4374C40B2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54" y="2436337"/>
            <a:ext cx="4827104" cy="4003599"/>
          </a:xfrm>
          <a:prstGeom prst="rect">
            <a:avLst/>
          </a:prstGeom>
          <a:ln w="53975"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104817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D38FA-BE7B-4687-2084-CB9A9837B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EFB4165-C09D-887C-7E6B-79871A9D7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60" y="668594"/>
            <a:ext cx="10894143" cy="580103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E3498DF-7BAC-5E31-02DF-7FD1CD6FC7CF}"/>
              </a:ext>
            </a:extLst>
          </p:cNvPr>
          <p:cNvSpPr txBox="1">
            <a:spLocks/>
          </p:cNvSpPr>
          <p:nvPr/>
        </p:nvSpPr>
        <p:spPr>
          <a:xfrm>
            <a:off x="639097" y="-114301"/>
            <a:ext cx="8262425" cy="100534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u="sng" dirty="0">
                <a:solidFill>
                  <a:srgbClr val="002060"/>
                </a:solidFill>
              </a:rPr>
              <a:t>Dashboard (Tableau):</a:t>
            </a:r>
            <a:endParaRPr lang="en-IN" sz="2800" b="1" u="sng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6224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D38FA-BE7B-4687-2084-CB9A9837B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E3498DF-7BAC-5E31-02DF-7FD1CD6FC7CF}"/>
              </a:ext>
            </a:extLst>
          </p:cNvPr>
          <p:cNvSpPr txBox="1">
            <a:spLocks/>
          </p:cNvSpPr>
          <p:nvPr/>
        </p:nvSpPr>
        <p:spPr>
          <a:xfrm>
            <a:off x="639097" y="-114301"/>
            <a:ext cx="8262425" cy="100534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u="sng" dirty="0">
                <a:solidFill>
                  <a:srgbClr val="002060"/>
                </a:solidFill>
              </a:rPr>
              <a:t>Dashboard (POWER BI):</a:t>
            </a:r>
            <a:endParaRPr lang="en-IN" sz="2800" b="1" u="sng" dirty="0">
              <a:solidFill>
                <a:srgbClr val="00206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ADC545-E690-0573-0B18-F49FF55F3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19" y="619435"/>
            <a:ext cx="9615948" cy="44317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CAEB5D-7C20-D493-F141-7B8FC01D7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19" y="5051145"/>
            <a:ext cx="9615948" cy="164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7196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D38FA-BE7B-4687-2084-CB9A9837B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E3498DF-7BAC-5E31-02DF-7FD1CD6FC7CF}"/>
              </a:ext>
            </a:extLst>
          </p:cNvPr>
          <p:cNvSpPr txBox="1">
            <a:spLocks/>
          </p:cNvSpPr>
          <p:nvPr/>
        </p:nvSpPr>
        <p:spPr>
          <a:xfrm>
            <a:off x="639097" y="-114301"/>
            <a:ext cx="8262425" cy="100534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u="sng" dirty="0">
                <a:solidFill>
                  <a:srgbClr val="002060"/>
                </a:solidFill>
              </a:rPr>
              <a:t>Dashboard (EXCEL):</a:t>
            </a:r>
            <a:endParaRPr lang="en-IN" sz="2800" b="1" u="sng" dirty="0">
              <a:solidFill>
                <a:srgbClr val="00206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44F0B1-3F0A-CC75-5E58-1AB45C324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19" y="722526"/>
            <a:ext cx="8908026" cy="40057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1FBEF1-BE88-FEE4-953C-D31BF03A8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19" y="4723456"/>
            <a:ext cx="8908026" cy="168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9215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18940-DE19-660B-21DE-6557E762B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7C98F5D-0B78-7310-E04F-1DA98317FFEA}"/>
              </a:ext>
            </a:extLst>
          </p:cNvPr>
          <p:cNvSpPr txBox="1">
            <a:spLocks/>
          </p:cNvSpPr>
          <p:nvPr/>
        </p:nvSpPr>
        <p:spPr>
          <a:xfrm>
            <a:off x="533399" y="458822"/>
            <a:ext cx="11834248" cy="95152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b="1" dirty="0">
                <a:solidFill>
                  <a:srgbClr val="002060"/>
                </a:solidFill>
              </a:rPr>
              <a:t>Key Dashboard Insights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FB4CE4-AAB3-7CE8-FACE-ED24259B7CD5}"/>
              </a:ext>
            </a:extLst>
          </p:cNvPr>
          <p:cNvSpPr txBox="1">
            <a:spLocks/>
          </p:cNvSpPr>
          <p:nvPr/>
        </p:nvSpPr>
        <p:spPr>
          <a:xfrm>
            <a:off x="533400" y="1846633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</a:rPr>
              <a:t> Total Funded: </a:t>
            </a:r>
            <a:r>
              <a:rPr lang="en-US" dirty="0">
                <a:solidFill>
                  <a:srgbClr val="002060"/>
                </a:solidFill>
              </a:rPr>
              <a:t>₹733M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</a:rPr>
              <a:t> Total Collection: </a:t>
            </a:r>
            <a:r>
              <a:rPr lang="en-US" dirty="0">
                <a:solidFill>
                  <a:srgbClr val="002060"/>
                </a:solidFill>
              </a:rPr>
              <a:t>₹808M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</a:rPr>
              <a:t> Default Rate: </a:t>
            </a:r>
            <a:r>
              <a:rPr lang="en-US" dirty="0">
                <a:solidFill>
                  <a:srgbClr val="002060"/>
                </a:solidFill>
              </a:rPr>
              <a:t>1.6%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</a:rPr>
              <a:t> Delinquent Rate: </a:t>
            </a:r>
            <a:r>
              <a:rPr lang="en-US" dirty="0">
                <a:solidFill>
                  <a:srgbClr val="002060"/>
                </a:solidFill>
              </a:rPr>
              <a:t>10.8%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</a:rPr>
              <a:t> Highest Loan State: </a:t>
            </a:r>
            <a:r>
              <a:rPr lang="en-US" dirty="0">
                <a:solidFill>
                  <a:srgbClr val="002060"/>
                </a:solidFill>
              </a:rPr>
              <a:t>Uttar Pradesh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</a:rPr>
              <a:t> Top Revenue Branch: </a:t>
            </a:r>
            <a:r>
              <a:rPr lang="en-US" dirty="0">
                <a:solidFill>
                  <a:srgbClr val="002060"/>
                </a:solidFill>
              </a:rPr>
              <a:t>Mathura</a:t>
            </a:r>
          </a:p>
        </p:txBody>
      </p:sp>
    </p:spTree>
    <p:extLst>
      <p:ext uri="{BB962C8B-B14F-4D97-AF65-F5344CB8AC3E}">
        <p14:creationId xmlns:p14="http://schemas.microsoft.com/office/powerpoint/2010/main" val="3059496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20446-FB5D-852E-FD9A-F3360B798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5C50B-9802-63D3-EB40-C5F6E24A3457}"/>
              </a:ext>
            </a:extLst>
          </p:cNvPr>
          <p:cNvSpPr txBox="1">
            <a:spLocks/>
          </p:cNvSpPr>
          <p:nvPr/>
        </p:nvSpPr>
        <p:spPr>
          <a:xfrm>
            <a:off x="533400" y="215630"/>
            <a:ext cx="10222424" cy="900248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b="1" dirty="0">
                <a:solidFill>
                  <a:srgbClr val="002060"/>
                </a:solidFill>
              </a:rPr>
              <a:t>Recommendations &amp;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1F493-C201-C228-74B5-55E39181865B}"/>
              </a:ext>
            </a:extLst>
          </p:cNvPr>
          <p:cNvSpPr txBox="1">
            <a:spLocks/>
          </p:cNvSpPr>
          <p:nvPr/>
        </p:nvSpPr>
        <p:spPr>
          <a:xfrm>
            <a:off x="533400" y="1642354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Reduce Delinquent Loans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Monitor Non-Verified Loans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Focus on High Performing Branches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Strengthen Credit Checks for Low Grades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Target 26-35 Age Group for Growth</a:t>
            </a:r>
          </a:p>
        </p:txBody>
      </p:sp>
    </p:spTree>
    <p:extLst>
      <p:ext uri="{BB962C8B-B14F-4D97-AF65-F5344CB8AC3E}">
        <p14:creationId xmlns:p14="http://schemas.microsoft.com/office/powerpoint/2010/main" val="1856237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EC993-FB32-CE62-B7FC-D1CA1CB51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0D639-BF90-A9E3-527C-F6F6BC634014}"/>
              </a:ext>
            </a:extLst>
          </p:cNvPr>
          <p:cNvSpPr txBox="1">
            <a:spLocks/>
          </p:cNvSpPr>
          <p:nvPr/>
        </p:nvSpPr>
        <p:spPr>
          <a:xfrm>
            <a:off x="533400" y="244813"/>
            <a:ext cx="11322803" cy="91756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b="1" dirty="0">
                <a:solidFill>
                  <a:srgbClr val="002060"/>
                </a:solidFill>
              </a:rPr>
              <a:t>Challenges &amp; Learnings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5F9ED-3B8F-C64B-7C6F-374DBDF27E7C}"/>
              </a:ext>
            </a:extLst>
          </p:cNvPr>
          <p:cNvSpPr txBox="1">
            <a:spLocks/>
          </p:cNvSpPr>
          <p:nvPr/>
        </p:nvSpPr>
        <p:spPr>
          <a:xfrm>
            <a:off x="533400" y="1671537"/>
            <a:ext cx="10175929" cy="37676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002060"/>
                </a:solidFill>
              </a:rPr>
              <a:t>Challenges: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Data Cleaning, Calculation Errors, Date Formatting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1" dirty="0">
              <a:solidFill>
                <a:srgbClr val="002060"/>
              </a:solidFill>
            </a:endParaRPr>
          </a:p>
          <a:p>
            <a:r>
              <a:rPr lang="en-US" b="1" dirty="0">
                <a:solidFill>
                  <a:srgbClr val="002060"/>
                </a:solidFill>
              </a:rPr>
              <a:t>Learnings: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KPI Logic, Tableau Calculated Fields,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Dashboard Design &amp; 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1552786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E388D-011E-AE22-20A3-6A79DA021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DEF9BC0-EDDE-55A4-CAAE-8F8DD75854D3}"/>
              </a:ext>
            </a:extLst>
          </p:cNvPr>
          <p:cNvSpPr txBox="1">
            <a:spLocks/>
          </p:cNvSpPr>
          <p:nvPr/>
        </p:nvSpPr>
        <p:spPr>
          <a:xfrm>
            <a:off x="533400" y="419911"/>
            <a:ext cx="10625380" cy="981049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b="1" dirty="0">
                <a:solidFill>
                  <a:srgbClr val="002060"/>
                </a:solidFill>
              </a:rPr>
              <a:t>Conclusion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6D98F1F-9C2B-DA7E-3951-6ADFBF3E8E5C}"/>
              </a:ext>
            </a:extLst>
          </p:cNvPr>
          <p:cNvSpPr txBox="1">
            <a:spLocks/>
          </p:cNvSpPr>
          <p:nvPr/>
        </p:nvSpPr>
        <p:spPr>
          <a:xfrm>
            <a:off x="533399" y="1689370"/>
            <a:ext cx="10733869" cy="37676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Bank is financially strong (Collection &gt; Funded)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Default rate is low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Delinquent rate needs improvement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Dashboard supports data-driven 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3005575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1DBF7-26CD-1E75-6FEA-43319DE4E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990D0E5-A13C-7252-F022-73D30BF80E21}"/>
              </a:ext>
            </a:extLst>
          </p:cNvPr>
          <p:cNvSpPr txBox="1">
            <a:spLocks/>
          </p:cNvSpPr>
          <p:nvPr/>
        </p:nvSpPr>
        <p:spPr>
          <a:xfrm>
            <a:off x="533400" y="419911"/>
            <a:ext cx="10625380" cy="981049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580D010-DD10-702C-854E-A49C6747E7F7}"/>
              </a:ext>
            </a:extLst>
          </p:cNvPr>
          <p:cNvSpPr txBox="1">
            <a:spLocks/>
          </p:cNvSpPr>
          <p:nvPr/>
        </p:nvSpPr>
        <p:spPr>
          <a:xfrm>
            <a:off x="533399" y="1689370"/>
            <a:ext cx="10733869" cy="37676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41F4A5-1F6B-E473-3DC4-C2D627A311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632155" y="1096296"/>
            <a:ext cx="9330813" cy="466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176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642</TotalTime>
  <Words>856</Words>
  <Application>Microsoft Office PowerPoint</Application>
  <PresentationFormat>Widescreen</PresentationFormat>
  <Paragraphs>137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Algerian</vt:lpstr>
      <vt:lpstr>Aptos</vt:lpstr>
      <vt:lpstr>Arial Black</vt:lpstr>
      <vt:lpstr>Calibri</vt:lpstr>
      <vt:lpstr>Century Gothic</vt:lpstr>
      <vt:lpstr>Wingdings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 Our team:</dc:title>
  <dc:creator>Avinash Chavan</dc:creator>
  <cp:lastModifiedBy>Anish kumar</cp:lastModifiedBy>
  <cp:revision>26</cp:revision>
  <dcterms:created xsi:type="dcterms:W3CDTF">2026-02-17T11:16:00Z</dcterms:created>
  <dcterms:modified xsi:type="dcterms:W3CDTF">2026-03-05T11:14:18Z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2026-02-18T05:12:13Z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180e4901-edf9-47a0-9756-059be2fb1cc1</vt:lpwstr>
  </property>
  <property fmtid="{D5CDD505-2E9C-101B-9397-08002B2CF9AE}" pid="7" name="MSIP_Label_defa4170-0d19-0005-0004-bc88714345d2_ActionId">
    <vt:lpwstr>49924cbb-c03e-472e-8502-51e5f17380a8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